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跟小朋友打招呼，告訴他們今天要來一場「電腦偵探之旅」——搞懂電腦腦袋裡到底在想什麼、怎麼聽懂我們的話。最後大家會親手寫出自己的第一支程式！可以先問：『你們覺得電腦聽得懂中文嗎？』引發好奇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本頁提供給老師/家長的課程資訊，可依實際情況調整進度。建議每個主題結束後停下來問問題，確認孩子跟上進度再繼續。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可以請一位小朋友實際去開關教室電燈，讓大家觀察『開』和『關』兩種狀態。強調電腦裡有數十億個這樣的小開關，這是所有電腦運作的最基礎原理。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 0 和 1 比喻成摩斯密碼或秘密暗號，增加趣味。強調重點：機器語言是電腦唯一『天生』聽得懂的語言，但對人類非常不友善。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強調『組合語言』是機器語言的簡化寫法，一個縮寫（如MOV、ADD）通常對應一小段0與1。可以問小朋友：MOV看起來像哪個英文單字？（move，移動）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強調高階語言最貼近人類語言、最容易學。可以問小朋友：這段程式碼你猜得出來在做什麼嗎？引導他們發現連沒學過程式的人也能猜出大意。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這一頁是總複習圖，把前三頁的內容整合成金字塔。可以帶著小朋友從上往下、或從下往上重新講一次演進故事，確認他們理解順序：機器語言→組合語言→高階語言。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紹編譯器(compiler)和解譯器(interpreter)的概念，可以簡化說：翻譯官會把我們寫的PRINT、IF這些句子，翻譯成電腦看得懂的0與1，電腦才能真正執行。不需深入區分compiler和interpreter的技術差異，維持在『翻譯』的比喻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BASIC是1964年由達特茅斯學院教授設計的教學語言，重點放在『簡單、好上手』。可以強調：今天大家要學的第一支正式程式語言，就是這個歷史悠久又親切的BASIC。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把PRINT、INPUT、LET比喻成三種不同的「積木」，接下來的範例會示範怎麼把這些積木組合起來，變成一支完整的小程式。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帶大家逐字讀出這一行程式，特別強調雙引號的功用：引號裡面的文字會「原封不動」被印出來。可以讓小朋友試著改成印出自己的名字。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說明INPUT會讓程式暫停，等待使用者打字輸入，並把輸入的內容存到name$這個「小盒子」（變數）裡，之後PRINT就能把這個盒子的內容講出來。$符號可以簡單說明是代表『文字』的記號，不需深入細節。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請每位小朋友實際在電腦上打開BASIC編輯器（見第15、16頁工具介紹），練習打出這一行程式並執行。巡場協助拼字或引號漏打的小錯誤，這是初學者最常見的問題。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「挑戰加分」的IF判斷是給進度較快或三年級孩子的延伸練習，一、二年級可以只做基本的INPUT+PRINT就好，不用勉強加上IF。鼓勵同儕互相測試，增加互動與成就感。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推薦 BASIC-256，這是一款免費、專門為教學設計的BASIC環境，內建繪圖指令適合國小生。若不想安裝軟體，也可以搜尋線上BASIC編譯器（瀏覽器內建、免安裝），但建議課前務必自行測試該連結是否穩定可用，因為線上工具的可用性可能隨時間變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建議課前老師先在每台教學電腦上完成安裝測試，避免上課時因安裝問題耽誤時間。可以印出這頁的步驟圖給小朋友帶回家，自己在家也能安裝練習。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可以先把答案遮住，用口頭方式讓小朋友搶答，增加互動氣氛，最後再公布答案卡上的解答。也可以讓小朋友舉手表決選項，確認全班理解程度。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為孩子的努力給予肯定，鼓勵他們回家繼續嘗試修改程式或挑戰繪圖指令。如果班上反應熱烈，可以預告下一堂課會學習更多BASIC指令，例如迴圈（FOR...NEXT）。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739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739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188720" cy="118872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119969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電腦的祕密語言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從機器語言到高階語言的探索之旅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6400800" cy="502920"/>
          </a:xfrm>
          <a:prstGeom prst="roundRect">
            <a:avLst>
              <a:gd name="adj" fmla="val 49091"/>
            </a:avLst>
          </a:prstGeom>
          <a:solidFill>
            <a:srgbClr val="27395E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適合國小一〜三年級　｜　最終實作：BASIC 語言動手寫程式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課堂投影片　・　逐頁講解版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課程指南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給老師與家長的小提醒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適合對象：</a:t>
            </a:r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國小一〜三年級（約 6–9 歲）
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898648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28254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認識電腦如何「聽懂」我們下的指令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3465576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33924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了解機器語言 → 組合語言 → 高階語言的演進故事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4032504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3959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 BASIC 語言，並動手寫出第一支程式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1874520"/>
            <a:ext cx="4114800" cy="3931920"/>
          </a:xfrm>
          <a:prstGeom prst="roundRect">
            <a:avLst>
              <a:gd name="adj" fmla="val 3721"/>
            </a:avLst>
          </a:prstGeom>
          <a:solidFill>
            <a:srgbClr val="E8F4FD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CD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教學小建議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772400" y="2606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建議分 2–3 堂課完成，每段搭配口頭提問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第7頁的金字塔圖可反覆回顧，幫助記憶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動手做環節請預留較多時間，讓孩子多嘗試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程式工具建議課前先安裝測試（見第15頁）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電腦怎麼想事情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電腦是一個「開關」的世界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電腦裡面藏著非常非常多的小小開關（叫做電晶體），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每一個開關只有兩種狀態，就像教室的電燈開關一樣！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200400" cy="2743200"/>
          </a:xfrm>
          <a:prstGeom prst="roundRect">
            <a:avLst>
              <a:gd name="adj" fmla="val 533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34290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322" y="3670402"/>
            <a:ext cx="523037" cy="5230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開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114800" y="3063240"/>
            <a:ext cx="3200400" cy="2743200"/>
          </a:xfrm>
          <a:prstGeom prst="roundRect">
            <a:avLst>
              <a:gd name="adj" fmla="val 5333"/>
            </a:avLst>
          </a:prstGeom>
          <a:solidFill>
            <a:srgbClr val="27395E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12080" y="342900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482" y="3670402"/>
            <a:ext cx="523037" cy="5230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關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11480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0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863840" y="3063240"/>
            <a:ext cx="3749040" cy="27432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/>
        </p:spPr>
      </p:sp>
      <p:sp>
        <p:nvSpPr>
          <p:cNvPr id="17" name="Text 13"/>
          <p:cNvSpPr/>
          <p:nvPr/>
        </p:nvSpPr>
        <p:spPr>
          <a:xfrm>
            <a:off x="813816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小提醒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38160" y="37033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電腦裡有數十億顆這樣的小開關，透過「開」和「關」不斷組合，就能表達出各種數字、文字，甚至圖片和聲音！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電腦怎麼想事情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第一站：機器語言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把很多個「開」和「關」排在一起，就變成電腦唯一真正聽得懂的語言——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我們叫它「機器語言」，全部都是由 0 和 1 組成的密碼。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6583680" cy="1417320"/>
          </a:xfrm>
          <a:prstGeom prst="roundRect">
            <a:avLst>
              <a:gd name="adj" fmla="val 774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42900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01001000  01101001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（這只是示意，代表打招呼的密碼）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498080" y="1920240"/>
            <a:ext cx="4114800" cy="27432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0" y="2148840"/>
            <a:ext cx="502920" cy="5029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01" y="22695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對電腦來說：超簡單！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0" y="28803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1" y="300106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對人類來說：像天書一樣難！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77240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如果要用機器語言寫程式，程式設計師要記住成千上萬串 0 和 1，非常辛苦！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電腦怎麼想事情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第二站：組合語言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6FCF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因為機器語言太難記，工程師發明了「組合語言」，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用簡短的英文縮寫代替一長串的 0 和 1，方便人類閱讀。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212080" cy="173736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機器語言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943600" y="3657600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19" y="3811219"/>
            <a:ext cx="332842" cy="33284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3108960"/>
            <a:ext cx="5212080" cy="1737360"/>
          </a:xfrm>
          <a:prstGeom prst="roundRect">
            <a:avLst>
              <a:gd name="adj" fmla="val 7368"/>
            </a:avLst>
          </a:prstGeom>
          <a:solidFill>
            <a:srgbClr val="2D9CDB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組合語言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75120" y="3703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A, B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比機器語言好記一點，但要學會很多專業縮寫，還是不容易上手。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電腦怎麼想事情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第三站：高階語言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「高階語言」讓程式更接近人類說話的方式，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就像用簡單的英文句子跟電腦聊天一樣！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6675120" cy="173736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2918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"Hello!"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 10 THEN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"你長大了！"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98080" y="3108960"/>
            <a:ext cx="4114800" cy="173736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這就是我們今天要學的 BASIC！Python、Scratch 也都是高階語言。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總覽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程式語言的階層金字塔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4709160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4782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機器語言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5166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與 1　電腦的原生語言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379476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2D9CD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38679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組合語言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/ ADD　簡短英文縮寫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88036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C93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高階語言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IF　接近人類語言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1000" y="2926080"/>
            <a:ext cx="0" cy="2606040"/>
          </a:xfrm>
          <a:prstGeom prst="line">
            <a:avLst/>
          </a:prstGeom>
          <a:noFill/>
          <a:ln w="19050">
            <a:solidFill>
              <a:srgbClr val="6B7A8F"/>
            </a:solidFill>
            <a:prstDash val="dash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838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人類容易懂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5257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電腦直接懂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8745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874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越往上，越像人類講話；越往下，越貼近電腦的0與1開關世界。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BASIC 上場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翻譯官登場！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電腦其實只聽得懂機器語言，那我們寫的高階語言，電腦要怎麼看懂呢？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答案是——需要一位「翻譯官」！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292608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CE6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338328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36027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小朋友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寫出高階語言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0" y="3749040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099" y="3902659"/>
            <a:ext cx="332842" cy="33284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17720" y="3108960"/>
            <a:ext cx="292608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CE6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23560" y="3383280"/>
            <a:ext cx="914400" cy="91440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60273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翻譯官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548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編譯器 / 解譯器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680960" y="3749040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79" y="3902659"/>
            <a:ext cx="332842" cy="33284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458200" y="3108960"/>
            <a:ext cx="292608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CE6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464040" y="338328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360273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電腦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59536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執行機器語言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BASIC 上場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認識 BASIC 語言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22960" cy="82296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全名：Beginner's All-purpose Symbolic Instruction Code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意思是「初學者的萬用符號指令語言」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474720"/>
            <a:ext cx="256032" cy="25603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專門為初學者設計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7673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從一開始就是為了讓「完全不會寫程式」的人也能輕鬆上手。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4425696"/>
            <a:ext cx="256032" cy="25603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334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語法簡單好讀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4718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很像簡單的英文句子，例如 PRINT、INPUT、IF...THEN。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5376672"/>
            <a:ext cx="256032" cy="25603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5285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程式老手的啟蒙老師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5669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全世界許多資深工程師，都是從 BASIC 開始學程式的！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0" y="3429000"/>
            <a:ext cx="3840480" cy="2423160"/>
          </a:xfrm>
          <a:prstGeom prst="roundRect">
            <a:avLst>
              <a:gd name="adj" fmla="val 6038"/>
            </a:avLst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"用一句話說完的程式語言"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41605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27395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21040" y="4343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"我在學程式！"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BASIC 上場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 的指令積木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1234440"/>
          </a:xfrm>
          <a:prstGeom prst="roundRect">
            <a:avLst>
              <a:gd name="adj" fmla="val 11852"/>
            </a:avLst>
          </a:prstGeom>
          <a:solidFill>
            <a:srgbClr val="2D9CD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3566160" cy="59436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4688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叫電腦「說」出文字或數字，顯示在畫面上。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56616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965960"/>
            <a:ext cx="3566160" cy="1234440"/>
          </a:xfrm>
          <a:prstGeom prst="roundRect">
            <a:avLst>
              <a:gd name="adj" fmla="val 11852"/>
            </a:avLst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2606040"/>
            <a:ext cx="3566160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688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63440" y="3931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讓電腦「問問題」，並等待使用者輸入答案。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38160" y="1965960"/>
            <a:ext cx="356616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38160" y="1965960"/>
            <a:ext cx="3566160" cy="1234440"/>
          </a:xfrm>
          <a:prstGeom prst="roundRect">
            <a:avLst>
              <a:gd name="adj" fmla="val 11852"/>
            </a:avLst>
          </a:prstGeom>
          <a:solidFill>
            <a:srgbClr val="6FCF97"/>
          </a:solidFill>
          <a:ln/>
        </p:spPr>
      </p:sp>
      <p:sp>
        <p:nvSpPr>
          <p:cNvPr id="21" name="Shape 17"/>
          <p:cNvSpPr/>
          <p:nvPr/>
        </p:nvSpPr>
        <p:spPr>
          <a:xfrm>
            <a:off x="8138160" y="2606040"/>
            <a:ext cx="3566160" cy="59436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22" name="Shape 18"/>
          <p:cNvSpPr/>
          <p:nvPr/>
        </p:nvSpPr>
        <p:spPr>
          <a:xfrm>
            <a:off x="950976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4688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3816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458200" y="3931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幫電腦「記住」一個數字或名字（變數）。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範例程式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範例：跟電腦打招呼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"哈囉，大家好！"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2423160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79" y="2576779"/>
            <a:ext cx="332842" cy="3328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20116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E8F4FD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執行結果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5236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哈囉，大家好！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怎麼讀懂這句程式？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3891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　→　告訴電腦：「請把後面的內容顯示出來」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"（雙引號）　→　告訴電腦：「引號裡面是文字，要照樣印出來」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範例程式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範例：電腦記住我的名字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"你叫什麼名字？", name$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"你好，"; name$; "！很高興認識你"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201168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執行結果（假設輸入「小美」）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52360" y="2560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你叫什麼名字？ 小美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你好，小美！很高興認識你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電腦先問問題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41148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2D9CD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等待你輸入答案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41148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076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INPUT 記住答案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41080" y="41148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2D9CDB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PRINT 說出結果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　動手做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動手做 1：我的第一支程式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請寫一行程式，讓電腦印出你的自我介紹！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提示模板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"我是___，今年___歲"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27432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2926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"我是小安，今年8歲"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4206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範例（可以參考，但要換成你自己的答案喔！）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1B2A4A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5056632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45920" y="48006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打開你的 BASIC 編輯器，把程式打進去，按下「Run／執行」按鈕，看看電腦有沒有照你的話說出來！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　動手做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動手做 2：猜猜我幾歲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22960" cy="822960"/>
          </a:xfrm>
          <a:prstGeom prst="ellipse">
            <a:avLst/>
          </a:prstGeom>
          <a:solidFill>
            <a:srgbClr val="6FCF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寫一支程式：先問使用者的年齡，再回應一句話！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6675120" cy="173736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9260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"你幾歲？", age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"哇！"; age; "歲！你已經很棒了！"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98080" y="2743200"/>
            <a:ext cx="4114800" cy="1737360"/>
          </a:xfrm>
          <a:prstGeom prst="roundRect">
            <a:avLst>
              <a:gd name="adj" fmla="val 7368"/>
            </a:avLst>
          </a:prstGeom>
          <a:solidFill>
            <a:srgbClr val="E8F4FD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挑戰加分（三年級適合）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3337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試著加一句 IF 判斷：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 10 THEN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"你是大孩子了！"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6FCF9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505663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48006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完成後，跟旁邊的同學互相測試看看：換不同的年齡，電腦說的話會不一樣嗎？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　準備工具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推薦的 BASIC 練習工具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3840480"/>
          </a:xfrm>
          <a:prstGeom prst="roundRect">
            <a:avLst>
              <a:gd name="adj" fmla="val 381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822960" cy="82296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3920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首選：BASIC-256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免費・專為教學設計・簡易安裝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201168" cy="201168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099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介面簡單，特別為初學者與課堂教學設計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767328"/>
            <a:ext cx="201168" cy="201168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6667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支援中文操作介面，小朋友容易上手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334256"/>
            <a:ext cx="201168" cy="201168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2336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內建繪圖指令，寫完程式還能畫出圖形，很有成就感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4901184"/>
            <a:ext cx="201168" cy="201168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800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跨平台：Windows / Mac / Linux 都能安裝使用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0" y="1920240"/>
            <a:ext cx="4297680" cy="384048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19" name="Shape 16"/>
          <p:cNvSpPr/>
          <p:nvPr/>
        </p:nvSpPr>
        <p:spPr>
          <a:xfrm>
            <a:off x="7589520" y="2194560"/>
            <a:ext cx="685800" cy="6858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235915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41248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備選方案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89520" y="2880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不想安裝軟體？也可以搜尋「線上 BASIC 編譯器」，用瀏覽器就能直接打開練習，不需下載安裝。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589520" y="3977640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27395E"/>
          </a:solidFill>
          <a:ln/>
        </p:spPr>
      </p:sp>
      <p:sp>
        <p:nvSpPr>
          <p:cNvPr id="24" name="Text 20"/>
          <p:cNvSpPr/>
          <p:nvPr/>
        </p:nvSpPr>
        <p:spPr>
          <a:xfrm>
            <a:off x="7772400" y="4114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使用線上工具前，請老師先自行測試連結是否能正常開啟與執行，確保課堂上能順利使用。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　準備工具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三步驟，開始寫程式！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2331720"/>
            <a:ext cx="1097280" cy="109728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2587752"/>
            <a:ext cx="585216" cy="585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2286000"/>
            <a:ext cx="457200" cy="457200"/>
          </a:xfrm>
          <a:prstGeom prst="ellipse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下載安裝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BASIC-256 官方網站下載安裝檔，依指示完成安裝。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00500" y="3474720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228" y="3584448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43400" y="201168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77840" y="2331720"/>
            <a:ext cx="1097280" cy="10972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587752"/>
            <a:ext cx="585216" cy="58521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46520" y="2286000"/>
            <a:ext cx="457200" cy="457200"/>
          </a:xfrm>
          <a:prstGeom prst="ellipse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46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34340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開啟編輯視窗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1772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打開軟體後會看到一個空白的「編輯視窗」，可以在裡面打字。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95260" y="3474720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3584448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38160" y="201168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72600" y="2331720"/>
            <a:ext cx="1097280" cy="1097280"/>
          </a:xfrm>
          <a:prstGeom prst="ellipse">
            <a:avLst/>
          </a:prstGeom>
          <a:solidFill>
            <a:srgbClr val="6FCF9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587752"/>
            <a:ext cx="585216" cy="58521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0241280" y="2286000"/>
            <a:ext cx="457200" cy="457200"/>
          </a:xfrm>
          <a:prstGeom prst="ellipse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0241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13816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按下 Run 執行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41248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打好程式後按下「Run／執行」按鈕，馬上看到結果！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　複習與挑戰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總複習小測驗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E8F4F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67128"/>
            <a:ext cx="594360" cy="59436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09774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031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電腦真正、天生聽得懂的語言是什麼？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877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答案：機器語言（0和1組成）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E4EA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538728"/>
            <a:ext cx="594360" cy="59436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68137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4747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PRINT 這個指令的功能是什麼？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9593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答案：叫電腦把文字或數字顯示出來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E8F4FD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910328"/>
            <a:ext cx="594360" cy="59436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05297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8463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BASIC 語言比較像下面哪一種？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53309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答案：高階語言（最接近人類說話方式）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27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739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97280" cy="10972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1777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恭喜完成探索之旅！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你已經認識了機器語言、組合語言、高階語言，還親手寫出了第一支 BASIC 程式！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3159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2245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回家後試著修改今天的程式，加上不一樣的問候語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4773168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8289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79145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BASIC-256 的繪圖指令，畫出自己的圖形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44982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53583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有興趣的話，也可以試試看 Scratch 積木式程式設計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謝謝大家的努力，下次見！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電腦的祕密語言：從機器語言到BASIC實作</dc:title>
  <dc:subject>PptxGenJS Presentation</dc:subject>
  <dc:creator>Claude</dc:creator>
  <cp:lastModifiedBy>Claude</cp:lastModifiedBy>
  <cp:revision>1</cp:revision>
  <dcterms:created xsi:type="dcterms:W3CDTF">2026-07-01T11:28:31Z</dcterms:created>
  <dcterms:modified xsi:type="dcterms:W3CDTF">2026-07-01T11:28:31Z</dcterms:modified>
</cp:coreProperties>
</file>